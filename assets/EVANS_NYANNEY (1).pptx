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6"/>
  </p:notesMasterIdLst>
  <p:sldIdLst>
    <p:sldId id="256" r:id="rId5"/>
  </p:sldIdLst>
  <p:sldSz cx="49377600" cy="32918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D53A481-9507-4937-8DD2-BA8F3ECE5842}">
          <p14:sldIdLst/>
        </p14:section>
        <p14:section name="Untitled Section" id="{82E89D88-67AE-4B24-B99F-9631D6D07928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555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5E3F"/>
    <a:srgbClr val="0000FF"/>
    <a:srgbClr val="FFFFFF"/>
    <a:srgbClr val="7B7566"/>
    <a:srgbClr val="877E71"/>
    <a:srgbClr val="01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2" d="100"/>
          <a:sy n="32" d="100"/>
        </p:scale>
        <p:origin x="3660" y="168"/>
      </p:cViewPr>
      <p:guideLst>
        <p:guide orient="horz" pos="10368"/>
        <p:guide pos="15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E97487-4216-4F2F-AC2C-E61BCFC69B3B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4CCE2B-8C20-4EDA-932D-B8108493B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108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4CCE2B-8C20-4EDA-932D-B8108493B64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609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60CC5-899F-EB93-006C-5A9810469E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72200" y="5387342"/>
            <a:ext cx="37033200" cy="11460480"/>
          </a:xfrm>
        </p:spPr>
        <p:txBody>
          <a:bodyPr anchor="b"/>
          <a:lstStyle>
            <a:lvl1pPr algn="ctr">
              <a:defRPr sz="24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1E1CB0-AF15-BE32-65E8-AC8CCEE53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72200" y="17289782"/>
            <a:ext cx="37033200" cy="7947658"/>
          </a:xfrm>
        </p:spPr>
        <p:txBody>
          <a:bodyPr/>
          <a:lstStyle>
            <a:lvl1pPr marL="0" indent="0" algn="ctr">
              <a:buNone/>
              <a:defRPr sz="9720"/>
            </a:lvl1pPr>
            <a:lvl2pPr marL="1851660" indent="0" algn="ctr">
              <a:buNone/>
              <a:defRPr sz="8100"/>
            </a:lvl2pPr>
            <a:lvl3pPr marL="3703320" indent="0" algn="ctr">
              <a:buNone/>
              <a:defRPr sz="7290"/>
            </a:lvl3pPr>
            <a:lvl4pPr marL="5554980" indent="0" algn="ctr">
              <a:buNone/>
              <a:defRPr sz="6480"/>
            </a:lvl4pPr>
            <a:lvl5pPr marL="7406640" indent="0" algn="ctr">
              <a:buNone/>
              <a:defRPr sz="6480"/>
            </a:lvl5pPr>
            <a:lvl6pPr marL="9258300" indent="0" algn="ctr">
              <a:buNone/>
              <a:defRPr sz="6480"/>
            </a:lvl6pPr>
            <a:lvl7pPr marL="11109960" indent="0" algn="ctr">
              <a:buNone/>
              <a:defRPr sz="6480"/>
            </a:lvl7pPr>
            <a:lvl8pPr marL="12961620" indent="0" algn="ctr">
              <a:buNone/>
              <a:defRPr sz="6480"/>
            </a:lvl8pPr>
            <a:lvl9pPr marL="14813280" indent="0" algn="ctr">
              <a:buNone/>
              <a:defRPr sz="648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7AB63-B53B-1BF5-3736-23E341069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FAF82-F864-0D4F-BE0B-948BF37FD17D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F1A04-39AB-BCFC-F0C1-4F75A49DD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5C3E5-D548-24D7-C848-866CA68DB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2B41-7DB0-2847-B7D4-5724B3318DE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206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58786-2AE0-0919-7AEE-EF68CE5DF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A6AB9-8241-7421-5851-9DC243980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DFE41-5C3D-2A7C-20B2-24D8CACE7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FAF82-F864-0D4F-BE0B-948BF37FD17D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59FB9-DC18-A097-9CEC-1770713E0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BBBC1-3C28-E60A-6220-60B6A01F7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2B41-7DB0-2847-B7D4-5724B3318DE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828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9295A-48DC-9DA4-1B53-4F54CC833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8993" y="8206745"/>
            <a:ext cx="42588180" cy="13693138"/>
          </a:xfrm>
        </p:spPr>
        <p:txBody>
          <a:bodyPr anchor="b"/>
          <a:lstStyle>
            <a:lvl1pPr>
              <a:defRPr sz="24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F16BA8-9577-6831-750D-A2E10744C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68993" y="22029425"/>
            <a:ext cx="42588180" cy="7200898"/>
          </a:xfrm>
        </p:spPr>
        <p:txBody>
          <a:bodyPr/>
          <a:lstStyle>
            <a:lvl1pPr marL="0" indent="0">
              <a:buNone/>
              <a:defRPr sz="9720">
                <a:solidFill>
                  <a:schemeClr val="tx1">
                    <a:tint val="82000"/>
                  </a:schemeClr>
                </a:solidFill>
              </a:defRPr>
            </a:lvl1pPr>
            <a:lvl2pPr marL="1851660" indent="0">
              <a:buNone/>
              <a:defRPr sz="8100">
                <a:solidFill>
                  <a:schemeClr val="tx1">
                    <a:tint val="82000"/>
                  </a:schemeClr>
                </a:solidFill>
              </a:defRPr>
            </a:lvl2pPr>
            <a:lvl3pPr marL="3703320" indent="0">
              <a:buNone/>
              <a:defRPr sz="7290">
                <a:solidFill>
                  <a:schemeClr val="tx1">
                    <a:tint val="82000"/>
                  </a:schemeClr>
                </a:solidFill>
              </a:defRPr>
            </a:lvl3pPr>
            <a:lvl4pPr marL="5554980" indent="0">
              <a:buNone/>
              <a:defRPr sz="6480">
                <a:solidFill>
                  <a:schemeClr val="tx1">
                    <a:tint val="82000"/>
                  </a:schemeClr>
                </a:solidFill>
              </a:defRPr>
            </a:lvl4pPr>
            <a:lvl5pPr marL="7406640" indent="0">
              <a:buNone/>
              <a:defRPr sz="6480">
                <a:solidFill>
                  <a:schemeClr val="tx1">
                    <a:tint val="82000"/>
                  </a:schemeClr>
                </a:solidFill>
              </a:defRPr>
            </a:lvl5pPr>
            <a:lvl6pPr marL="9258300" indent="0">
              <a:buNone/>
              <a:defRPr sz="6480">
                <a:solidFill>
                  <a:schemeClr val="tx1">
                    <a:tint val="82000"/>
                  </a:schemeClr>
                </a:solidFill>
              </a:defRPr>
            </a:lvl6pPr>
            <a:lvl7pPr marL="11109960" indent="0">
              <a:buNone/>
              <a:defRPr sz="6480">
                <a:solidFill>
                  <a:schemeClr val="tx1">
                    <a:tint val="82000"/>
                  </a:schemeClr>
                </a:solidFill>
              </a:defRPr>
            </a:lvl7pPr>
            <a:lvl8pPr marL="12961620" indent="0">
              <a:buNone/>
              <a:defRPr sz="6480">
                <a:solidFill>
                  <a:schemeClr val="tx1">
                    <a:tint val="82000"/>
                  </a:schemeClr>
                </a:solidFill>
              </a:defRPr>
            </a:lvl8pPr>
            <a:lvl9pPr marL="14813280" indent="0">
              <a:buNone/>
              <a:defRPr sz="64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96FD6-29BD-0AC9-807E-0B2DD97E6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FAF82-F864-0D4F-BE0B-948BF37FD17D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EC0F8-B7BE-E7B2-9BB9-6B188F49F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0A378-49F2-EDA8-698E-F9C0966E5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2B41-7DB0-2847-B7D4-5724B3318DE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227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36DF2-B719-B85A-3E1A-CFE9A3BE6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A2FFA-08F5-C343-B57B-12A79D5CDD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94710" y="8763000"/>
            <a:ext cx="2098548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69C6E8-679B-F61E-B8BA-448529133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997410" y="8763000"/>
            <a:ext cx="2098548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9D5F7E-C2D1-AAF9-1054-A6B275A43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FAF82-F864-0D4F-BE0B-948BF37FD17D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393496-90A6-6B67-701D-B1F7A43E2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535489-CB04-6663-1394-A103D4BC8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2B41-7DB0-2847-B7D4-5724B3318DE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780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05DDE-89A8-B488-CC90-78115B2AF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141" y="1752603"/>
            <a:ext cx="42588180" cy="6362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02DEB-7EA4-7179-B704-ED90EFB73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1144" y="8069582"/>
            <a:ext cx="20889037" cy="3954778"/>
          </a:xfrm>
        </p:spPr>
        <p:txBody>
          <a:bodyPr anchor="b"/>
          <a:lstStyle>
            <a:lvl1pPr marL="0" indent="0">
              <a:buNone/>
              <a:defRPr sz="9720" b="1"/>
            </a:lvl1pPr>
            <a:lvl2pPr marL="1851660" indent="0">
              <a:buNone/>
              <a:defRPr sz="8100" b="1"/>
            </a:lvl2pPr>
            <a:lvl3pPr marL="3703320" indent="0">
              <a:buNone/>
              <a:defRPr sz="7290" b="1"/>
            </a:lvl3pPr>
            <a:lvl4pPr marL="5554980" indent="0">
              <a:buNone/>
              <a:defRPr sz="6480" b="1"/>
            </a:lvl4pPr>
            <a:lvl5pPr marL="7406640" indent="0">
              <a:buNone/>
              <a:defRPr sz="6480" b="1"/>
            </a:lvl5pPr>
            <a:lvl6pPr marL="9258300" indent="0">
              <a:buNone/>
              <a:defRPr sz="6480" b="1"/>
            </a:lvl6pPr>
            <a:lvl7pPr marL="11109960" indent="0">
              <a:buNone/>
              <a:defRPr sz="6480" b="1"/>
            </a:lvl7pPr>
            <a:lvl8pPr marL="12961620" indent="0">
              <a:buNone/>
              <a:defRPr sz="6480" b="1"/>
            </a:lvl8pPr>
            <a:lvl9pPr marL="14813280" indent="0">
              <a:buNone/>
              <a:defRPr sz="6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01598E-A9C0-DADF-CB77-C963E57A5E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01144" y="12024360"/>
            <a:ext cx="2088903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C94C25-7630-27AC-7BFD-FED151DF71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4997410" y="8069582"/>
            <a:ext cx="20991911" cy="3954778"/>
          </a:xfrm>
        </p:spPr>
        <p:txBody>
          <a:bodyPr anchor="b"/>
          <a:lstStyle>
            <a:lvl1pPr marL="0" indent="0">
              <a:buNone/>
              <a:defRPr sz="9720" b="1"/>
            </a:lvl1pPr>
            <a:lvl2pPr marL="1851660" indent="0">
              <a:buNone/>
              <a:defRPr sz="8100" b="1"/>
            </a:lvl2pPr>
            <a:lvl3pPr marL="3703320" indent="0">
              <a:buNone/>
              <a:defRPr sz="7290" b="1"/>
            </a:lvl3pPr>
            <a:lvl4pPr marL="5554980" indent="0">
              <a:buNone/>
              <a:defRPr sz="6480" b="1"/>
            </a:lvl4pPr>
            <a:lvl5pPr marL="7406640" indent="0">
              <a:buNone/>
              <a:defRPr sz="6480" b="1"/>
            </a:lvl5pPr>
            <a:lvl6pPr marL="9258300" indent="0">
              <a:buNone/>
              <a:defRPr sz="6480" b="1"/>
            </a:lvl6pPr>
            <a:lvl7pPr marL="11109960" indent="0">
              <a:buNone/>
              <a:defRPr sz="6480" b="1"/>
            </a:lvl7pPr>
            <a:lvl8pPr marL="12961620" indent="0">
              <a:buNone/>
              <a:defRPr sz="6480" b="1"/>
            </a:lvl8pPr>
            <a:lvl9pPr marL="14813280" indent="0">
              <a:buNone/>
              <a:defRPr sz="6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1B7723-E8BE-D201-36D3-A6C662D2D3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4997410" y="12024360"/>
            <a:ext cx="20991911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9F6E8C-AC05-FC5B-BBAC-2C9F5C750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FAF82-F864-0D4F-BE0B-948BF37FD17D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8E6639-8F6C-C4A5-27A8-7499B57B5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220197-380A-0E39-EC4F-3B08F973F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2B41-7DB0-2847-B7D4-5724B3318DE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763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73C5B-E214-3058-6805-9E4F4597E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FA8E90-A6DD-BE85-37EB-00352AD59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FAF82-F864-0D4F-BE0B-948BF37FD17D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135F5D-6BE7-2524-BF04-E0145065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04F33C-6905-E31E-6116-30583CADE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2B41-7DB0-2847-B7D4-5724B3318DE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568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FE9C04-83DA-6C2C-615C-98D4966A0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FAF82-F864-0D4F-BE0B-948BF37FD17D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66170A-DDD3-DA21-7E99-81D5E96BA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79CB1-888F-0DD8-E24D-8D4038C1B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2B41-7DB0-2847-B7D4-5724B3318DE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452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1B6AF-5CA5-26D5-EA3E-32983B43A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143" y="2194560"/>
            <a:ext cx="15925560" cy="7680960"/>
          </a:xfrm>
        </p:spPr>
        <p:txBody>
          <a:bodyPr anchor="b"/>
          <a:lstStyle>
            <a:lvl1pPr>
              <a:defRPr sz="129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55056-BEC5-FD74-87E7-16F6F14C0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91911" y="4739642"/>
            <a:ext cx="24997410" cy="23393400"/>
          </a:xfrm>
        </p:spPr>
        <p:txBody>
          <a:bodyPr/>
          <a:lstStyle>
            <a:lvl1pPr>
              <a:defRPr sz="12960"/>
            </a:lvl1pPr>
            <a:lvl2pPr>
              <a:defRPr sz="11340"/>
            </a:lvl2pPr>
            <a:lvl3pPr>
              <a:defRPr sz="9720"/>
            </a:lvl3pPr>
            <a:lvl4pPr>
              <a:defRPr sz="8100"/>
            </a:lvl4pPr>
            <a:lvl5pPr>
              <a:defRPr sz="8100"/>
            </a:lvl5pPr>
            <a:lvl6pPr>
              <a:defRPr sz="8100"/>
            </a:lvl6pPr>
            <a:lvl7pPr>
              <a:defRPr sz="8100"/>
            </a:lvl7pPr>
            <a:lvl8pPr>
              <a:defRPr sz="8100"/>
            </a:lvl8pPr>
            <a:lvl9pPr>
              <a:defRPr sz="8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68D7F8-6353-D749-9EA9-E829AE2BC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01143" y="9875520"/>
            <a:ext cx="15925560" cy="18295622"/>
          </a:xfrm>
        </p:spPr>
        <p:txBody>
          <a:bodyPr/>
          <a:lstStyle>
            <a:lvl1pPr marL="0" indent="0">
              <a:buNone/>
              <a:defRPr sz="6480"/>
            </a:lvl1pPr>
            <a:lvl2pPr marL="1851660" indent="0">
              <a:buNone/>
              <a:defRPr sz="5670"/>
            </a:lvl2pPr>
            <a:lvl3pPr marL="3703320" indent="0">
              <a:buNone/>
              <a:defRPr sz="4860"/>
            </a:lvl3pPr>
            <a:lvl4pPr marL="5554980" indent="0">
              <a:buNone/>
              <a:defRPr sz="4050"/>
            </a:lvl4pPr>
            <a:lvl5pPr marL="7406640" indent="0">
              <a:buNone/>
              <a:defRPr sz="4050"/>
            </a:lvl5pPr>
            <a:lvl6pPr marL="9258300" indent="0">
              <a:buNone/>
              <a:defRPr sz="4050"/>
            </a:lvl6pPr>
            <a:lvl7pPr marL="11109960" indent="0">
              <a:buNone/>
              <a:defRPr sz="4050"/>
            </a:lvl7pPr>
            <a:lvl8pPr marL="12961620" indent="0">
              <a:buNone/>
              <a:defRPr sz="4050"/>
            </a:lvl8pPr>
            <a:lvl9pPr marL="14813280" indent="0">
              <a:buNone/>
              <a:defRPr sz="4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91569E-DD91-6EED-C796-93D69F535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FAF82-F864-0D4F-BE0B-948BF37FD17D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593ABB-A529-4872-B136-8FA6B201F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08FC7F-FB9D-0E26-51F3-E454EFFE7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2B41-7DB0-2847-B7D4-5724B3318DE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591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B2F07-4D26-3C27-C16B-B1D90A900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143" y="2194560"/>
            <a:ext cx="15925560" cy="7680960"/>
          </a:xfrm>
        </p:spPr>
        <p:txBody>
          <a:bodyPr anchor="b"/>
          <a:lstStyle>
            <a:lvl1pPr>
              <a:defRPr sz="129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CDFF78-D863-49A5-3E0E-48D689237A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0991911" y="4739642"/>
            <a:ext cx="24997410" cy="23393400"/>
          </a:xfrm>
        </p:spPr>
        <p:txBody>
          <a:bodyPr/>
          <a:lstStyle>
            <a:lvl1pPr marL="0" indent="0">
              <a:buNone/>
              <a:defRPr sz="12960"/>
            </a:lvl1pPr>
            <a:lvl2pPr marL="1851660" indent="0">
              <a:buNone/>
              <a:defRPr sz="11340"/>
            </a:lvl2pPr>
            <a:lvl3pPr marL="3703320" indent="0">
              <a:buNone/>
              <a:defRPr sz="9720"/>
            </a:lvl3pPr>
            <a:lvl4pPr marL="5554980" indent="0">
              <a:buNone/>
              <a:defRPr sz="8100"/>
            </a:lvl4pPr>
            <a:lvl5pPr marL="7406640" indent="0">
              <a:buNone/>
              <a:defRPr sz="8100"/>
            </a:lvl5pPr>
            <a:lvl6pPr marL="9258300" indent="0">
              <a:buNone/>
              <a:defRPr sz="8100"/>
            </a:lvl6pPr>
            <a:lvl7pPr marL="11109960" indent="0">
              <a:buNone/>
              <a:defRPr sz="8100"/>
            </a:lvl7pPr>
            <a:lvl8pPr marL="12961620" indent="0">
              <a:buNone/>
              <a:defRPr sz="8100"/>
            </a:lvl8pPr>
            <a:lvl9pPr marL="14813280" indent="0">
              <a:buNone/>
              <a:defRPr sz="81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725F20-630F-5F31-026C-F37D9B6547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01143" y="9875520"/>
            <a:ext cx="15925560" cy="18295622"/>
          </a:xfrm>
        </p:spPr>
        <p:txBody>
          <a:bodyPr/>
          <a:lstStyle>
            <a:lvl1pPr marL="0" indent="0">
              <a:buNone/>
              <a:defRPr sz="6480"/>
            </a:lvl1pPr>
            <a:lvl2pPr marL="1851660" indent="0">
              <a:buNone/>
              <a:defRPr sz="5670"/>
            </a:lvl2pPr>
            <a:lvl3pPr marL="3703320" indent="0">
              <a:buNone/>
              <a:defRPr sz="4860"/>
            </a:lvl3pPr>
            <a:lvl4pPr marL="5554980" indent="0">
              <a:buNone/>
              <a:defRPr sz="4050"/>
            </a:lvl4pPr>
            <a:lvl5pPr marL="7406640" indent="0">
              <a:buNone/>
              <a:defRPr sz="4050"/>
            </a:lvl5pPr>
            <a:lvl6pPr marL="9258300" indent="0">
              <a:buNone/>
              <a:defRPr sz="4050"/>
            </a:lvl6pPr>
            <a:lvl7pPr marL="11109960" indent="0">
              <a:buNone/>
              <a:defRPr sz="4050"/>
            </a:lvl7pPr>
            <a:lvl8pPr marL="12961620" indent="0">
              <a:buNone/>
              <a:defRPr sz="4050"/>
            </a:lvl8pPr>
            <a:lvl9pPr marL="14813280" indent="0">
              <a:buNone/>
              <a:defRPr sz="4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605F9-121E-B05D-178E-2DE950325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FAF82-F864-0D4F-BE0B-948BF37FD17D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59573F-7923-A0AD-9B3E-93D942BE4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5E7D31-12DB-8D73-CA8E-3D81B108D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2B41-7DB0-2847-B7D4-5724B3318DE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4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A82FF-D0D0-D991-EB29-8024B0356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055A78-5BCB-1E1E-C640-7D923913D0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23A7B-7CE4-2BB8-1A6E-36E811BA0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FAF82-F864-0D4F-BE0B-948BF37FD17D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BCAC0-E2E1-B817-0601-0D8E1336C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81FFA-45B3-BDF4-1EC7-0957325C6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2B41-7DB0-2847-B7D4-5724B3318DE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523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A34E27-24FD-837C-AEEF-815BDA9CD5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5335845" y="1752600"/>
            <a:ext cx="10647045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01E402-C770-96CF-B98B-318C187FB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94710" y="1752600"/>
            <a:ext cx="31323915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9F00D0-B909-FD71-DADD-E8C87FFFB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FAF82-F864-0D4F-BE0B-948BF37FD17D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D4E76-9C1B-1821-7FD3-BADCBF9ED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1B2EF-A70F-EE0B-1016-0F062F396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2B41-7DB0-2847-B7D4-5724B3318DE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084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E1DFE8-ED32-0948-DC78-082D8CAC6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4710" y="1752603"/>
            <a:ext cx="4258818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E05941-FC6E-EA9F-EFC4-9A25B9373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94710" y="8763000"/>
            <a:ext cx="4258818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CD3B7-30A1-E0D1-ACAC-B2988C26A1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94710" y="30510482"/>
            <a:ext cx="1110996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AC75A4-CBB2-EC4A-80B2-B8D780B1A5E1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2EABE-CAA4-CDAD-430E-30AF419612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356330" y="30510482"/>
            <a:ext cx="1666494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49740-AE30-5210-6D60-4B663D6466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872930" y="30510482"/>
            <a:ext cx="1110996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C100D4-B3F0-9F43-AEF8-2737BE0A1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604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703320" rtl="0" eaLnBrk="1" latinLnBrk="0" hangingPunct="1">
        <a:lnSpc>
          <a:spcPct val="90000"/>
        </a:lnSpc>
        <a:spcBef>
          <a:spcPct val="0"/>
        </a:spcBef>
        <a:buNone/>
        <a:defRPr sz="178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25830" indent="-925830" algn="l" defTabSz="3703320" rtl="0" eaLnBrk="1" latinLnBrk="0" hangingPunct="1">
        <a:lnSpc>
          <a:spcPct val="90000"/>
        </a:lnSpc>
        <a:spcBef>
          <a:spcPts val="4050"/>
        </a:spcBef>
        <a:buFont typeface="Arial" panose="020B0604020202020204" pitchFamily="34" charset="0"/>
        <a:buChar char="•"/>
        <a:defRPr sz="11340" kern="1200">
          <a:solidFill>
            <a:schemeClr val="tx1"/>
          </a:solidFill>
          <a:latin typeface="+mn-lt"/>
          <a:ea typeface="+mn-ea"/>
          <a:cs typeface="+mn-cs"/>
        </a:defRPr>
      </a:lvl1pPr>
      <a:lvl2pPr marL="2777490" indent="-925830" algn="l" defTabSz="3703320" rtl="0" eaLnBrk="1" latinLnBrk="0" hangingPunct="1">
        <a:lnSpc>
          <a:spcPct val="90000"/>
        </a:lnSpc>
        <a:spcBef>
          <a:spcPts val="2025"/>
        </a:spcBef>
        <a:buFont typeface="Arial" panose="020B0604020202020204" pitchFamily="34" charset="0"/>
        <a:buChar char="•"/>
        <a:defRPr sz="9720" kern="1200">
          <a:solidFill>
            <a:schemeClr val="tx1"/>
          </a:solidFill>
          <a:latin typeface="+mn-lt"/>
          <a:ea typeface="+mn-ea"/>
          <a:cs typeface="+mn-cs"/>
        </a:defRPr>
      </a:lvl2pPr>
      <a:lvl3pPr marL="4629150" indent="-925830" algn="l" defTabSz="3703320" rtl="0" eaLnBrk="1" latinLnBrk="0" hangingPunct="1">
        <a:lnSpc>
          <a:spcPct val="90000"/>
        </a:lnSpc>
        <a:spcBef>
          <a:spcPts val="2025"/>
        </a:spcBef>
        <a:buFont typeface="Arial" panose="020B0604020202020204" pitchFamily="34" charset="0"/>
        <a:buChar char="•"/>
        <a:defRPr sz="8100" kern="1200">
          <a:solidFill>
            <a:schemeClr val="tx1"/>
          </a:solidFill>
          <a:latin typeface="+mn-lt"/>
          <a:ea typeface="+mn-ea"/>
          <a:cs typeface="+mn-cs"/>
        </a:defRPr>
      </a:lvl3pPr>
      <a:lvl4pPr marL="6480810" indent="-925830" algn="l" defTabSz="3703320" rtl="0" eaLnBrk="1" latinLnBrk="0" hangingPunct="1">
        <a:lnSpc>
          <a:spcPct val="90000"/>
        </a:lnSpc>
        <a:spcBef>
          <a:spcPts val="2025"/>
        </a:spcBef>
        <a:buFont typeface="Arial" panose="020B0604020202020204" pitchFamily="34" charset="0"/>
        <a:buChar char="•"/>
        <a:defRPr sz="7290" kern="1200">
          <a:solidFill>
            <a:schemeClr val="tx1"/>
          </a:solidFill>
          <a:latin typeface="+mn-lt"/>
          <a:ea typeface="+mn-ea"/>
          <a:cs typeface="+mn-cs"/>
        </a:defRPr>
      </a:lvl4pPr>
      <a:lvl5pPr marL="8332470" indent="-925830" algn="l" defTabSz="3703320" rtl="0" eaLnBrk="1" latinLnBrk="0" hangingPunct="1">
        <a:lnSpc>
          <a:spcPct val="90000"/>
        </a:lnSpc>
        <a:spcBef>
          <a:spcPts val="2025"/>
        </a:spcBef>
        <a:buFont typeface="Arial" panose="020B0604020202020204" pitchFamily="34" charset="0"/>
        <a:buChar char="•"/>
        <a:defRPr sz="7290" kern="1200">
          <a:solidFill>
            <a:schemeClr val="tx1"/>
          </a:solidFill>
          <a:latin typeface="+mn-lt"/>
          <a:ea typeface="+mn-ea"/>
          <a:cs typeface="+mn-cs"/>
        </a:defRPr>
      </a:lvl5pPr>
      <a:lvl6pPr marL="10184130" indent="-925830" algn="l" defTabSz="3703320" rtl="0" eaLnBrk="1" latinLnBrk="0" hangingPunct="1">
        <a:lnSpc>
          <a:spcPct val="90000"/>
        </a:lnSpc>
        <a:spcBef>
          <a:spcPts val="2025"/>
        </a:spcBef>
        <a:buFont typeface="Arial" panose="020B0604020202020204" pitchFamily="34" charset="0"/>
        <a:buChar char="•"/>
        <a:defRPr sz="7290" kern="1200">
          <a:solidFill>
            <a:schemeClr val="tx1"/>
          </a:solidFill>
          <a:latin typeface="+mn-lt"/>
          <a:ea typeface="+mn-ea"/>
          <a:cs typeface="+mn-cs"/>
        </a:defRPr>
      </a:lvl6pPr>
      <a:lvl7pPr marL="12035790" indent="-925830" algn="l" defTabSz="3703320" rtl="0" eaLnBrk="1" latinLnBrk="0" hangingPunct="1">
        <a:lnSpc>
          <a:spcPct val="90000"/>
        </a:lnSpc>
        <a:spcBef>
          <a:spcPts val="2025"/>
        </a:spcBef>
        <a:buFont typeface="Arial" panose="020B0604020202020204" pitchFamily="34" charset="0"/>
        <a:buChar char="•"/>
        <a:defRPr sz="7290" kern="1200">
          <a:solidFill>
            <a:schemeClr val="tx1"/>
          </a:solidFill>
          <a:latin typeface="+mn-lt"/>
          <a:ea typeface="+mn-ea"/>
          <a:cs typeface="+mn-cs"/>
        </a:defRPr>
      </a:lvl7pPr>
      <a:lvl8pPr marL="13887450" indent="-925830" algn="l" defTabSz="3703320" rtl="0" eaLnBrk="1" latinLnBrk="0" hangingPunct="1">
        <a:lnSpc>
          <a:spcPct val="90000"/>
        </a:lnSpc>
        <a:spcBef>
          <a:spcPts val="2025"/>
        </a:spcBef>
        <a:buFont typeface="Arial" panose="020B0604020202020204" pitchFamily="34" charset="0"/>
        <a:buChar char="•"/>
        <a:defRPr sz="7290" kern="1200">
          <a:solidFill>
            <a:schemeClr val="tx1"/>
          </a:solidFill>
          <a:latin typeface="+mn-lt"/>
          <a:ea typeface="+mn-ea"/>
          <a:cs typeface="+mn-cs"/>
        </a:defRPr>
      </a:lvl8pPr>
      <a:lvl9pPr marL="15739110" indent="-925830" algn="l" defTabSz="3703320" rtl="0" eaLnBrk="1" latinLnBrk="0" hangingPunct="1">
        <a:lnSpc>
          <a:spcPct val="90000"/>
        </a:lnSpc>
        <a:spcBef>
          <a:spcPts val="2025"/>
        </a:spcBef>
        <a:buFont typeface="Arial" panose="020B0604020202020204" pitchFamily="34" charset="0"/>
        <a:buChar char="•"/>
        <a:defRPr sz="72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03320" rtl="0" eaLnBrk="1" latinLnBrk="0" hangingPunct="1">
        <a:defRPr sz="7290" kern="1200">
          <a:solidFill>
            <a:schemeClr val="tx1"/>
          </a:solidFill>
          <a:latin typeface="+mn-lt"/>
          <a:ea typeface="+mn-ea"/>
          <a:cs typeface="+mn-cs"/>
        </a:defRPr>
      </a:lvl1pPr>
      <a:lvl2pPr marL="1851660" algn="l" defTabSz="3703320" rtl="0" eaLnBrk="1" latinLnBrk="0" hangingPunct="1">
        <a:defRPr sz="7290" kern="1200">
          <a:solidFill>
            <a:schemeClr val="tx1"/>
          </a:solidFill>
          <a:latin typeface="+mn-lt"/>
          <a:ea typeface="+mn-ea"/>
          <a:cs typeface="+mn-cs"/>
        </a:defRPr>
      </a:lvl2pPr>
      <a:lvl3pPr marL="3703320" algn="l" defTabSz="3703320" rtl="0" eaLnBrk="1" latinLnBrk="0" hangingPunct="1">
        <a:defRPr sz="7290" kern="1200">
          <a:solidFill>
            <a:schemeClr val="tx1"/>
          </a:solidFill>
          <a:latin typeface="+mn-lt"/>
          <a:ea typeface="+mn-ea"/>
          <a:cs typeface="+mn-cs"/>
        </a:defRPr>
      </a:lvl3pPr>
      <a:lvl4pPr marL="5554980" algn="l" defTabSz="3703320" rtl="0" eaLnBrk="1" latinLnBrk="0" hangingPunct="1">
        <a:defRPr sz="729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algn="l" defTabSz="3703320" rtl="0" eaLnBrk="1" latinLnBrk="0" hangingPunct="1">
        <a:defRPr sz="7290" kern="1200">
          <a:solidFill>
            <a:schemeClr val="tx1"/>
          </a:solidFill>
          <a:latin typeface="+mn-lt"/>
          <a:ea typeface="+mn-ea"/>
          <a:cs typeface="+mn-cs"/>
        </a:defRPr>
      </a:lvl5pPr>
      <a:lvl6pPr marL="9258300" algn="l" defTabSz="3703320" rtl="0" eaLnBrk="1" latinLnBrk="0" hangingPunct="1">
        <a:defRPr sz="7290" kern="1200">
          <a:solidFill>
            <a:schemeClr val="tx1"/>
          </a:solidFill>
          <a:latin typeface="+mn-lt"/>
          <a:ea typeface="+mn-ea"/>
          <a:cs typeface="+mn-cs"/>
        </a:defRPr>
      </a:lvl6pPr>
      <a:lvl7pPr marL="11109960" algn="l" defTabSz="3703320" rtl="0" eaLnBrk="1" latinLnBrk="0" hangingPunct="1">
        <a:defRPr sz="7290" kern="1200">
          <a:solidFill>
            <a:schemeClr val="tx1"/>
          </a:solidFill>
          <a:latin typeface="+mn-lt"/>
          <a:ea typeface="+mn-ea"/>
          <a:cs typeface="+mn-cs"/>
        </a:defRPr>
      </a:lvl7pPr>
      <a:lvl8pPr marL="12961620" algn="l" defTabSz="3703320" rtl="0" eaLnBrk="1" latinLnBrk="0" hangingPunct="1">
        <a:defRPr sz="7290" kern="1200">
          <a:solidFill>
            <a:schemeClr val="tx1"/>
          </a:solidFill>
          <a:latin typeface="+mn-lt"/>
          <a:ea typeface="+mn-ea"/>
          <a:cs typeface="+mn-cs"/>
        </a:defRPr>
      </a:lvl8pPr>
      <a:lvl9pPr marL="14813280" algn="l" defTabSz="3703320" rtl="0" eaLnBrk="1" latinLnBrk="0" hangingPunct="1">
        <a:defRPr sz="72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emf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 bright="-13000" contrast="-27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725891" y="655353"/>
            <a:ext cx="39651709" cy="2622256"/>
          </a:xfrm>
          <a:prstGeom prst="rect">
            <a:avLst/>
          </a:prstGeom>
          <a:noFill/>
        </p:spPr>
        <p:txBody>
          <a:bodyPr wrap="square" lIns="128016" tIns="64008" rIns="128016" bIns="64008" rtlCol="0" anchor="t">
            <a:spAutoFit/>
          </a:bodyPr>
          <a:lstStyle/>
          <a:p>
            <a:pPr algn="ctr"/>
            <a:r>
              <a:rPr lang="en-US" sz="8100" b="1">
                <a:solidFill>
                  <a:schemeClr val="bg1"/>
                </a:solidFill>
                <a:latin typeface="Barlow SemiBold"/>
                <a:cs typeface="Frutiger 55 Roman"/>
              </a:rPr>
              <a:t>Unveil the Relationship Between Process and Design Embedded in the 3D Point Cloud using Unsupervised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3206172" y="5223736"/>
            <a:ext cx="11000702" cy="683264"/>
          </a:xfrm>
          <a:prstGeom prst="rect">
            <a:avLst/>
          </a:prstGeom>
        </p:spPr>
        <p:txBody>
          <a:bodyPr wrap="square" lIns="128016" tIns="64008" rIns="128016" bIns="64008">
            <a:spAutoFit/>
          </a:bodyPr>
          <a:lstStyle/>
          <a:p>
            <a:r>
              <a:rPr lang="en-US" sz="3600">
                <a:solidFill>
                  <a:srgbClr val="FFFFFF"/>
                </a:solidFill>
                <a:latin typeface="Barlow" pitchFamily="2" charset="77"/>
                <a:cs typeface="Frutiger 45 Light"/>
              </a:rPr>
              <a:t>Department of Industrial and Systems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18273" y="3499833"/>
            <a:ext cx="5559328" cy="1155294"/>
          </a:xfrm>
          <a:prstGeom prst="rect">
            <a:avLst/>
          </a:prstGeom>
          <a:noFill/>
        </p:spPr>
        <p:txBody>
          <a:bodyPr wrap="none" lIns="128016" tIns="64008" rIns="128016" bIns="64008" rtlCol="0">
            <a:noAutofit/>
          </a:bodyPr>
          <a:lstStyle/>
          <a:p>
            <a:r>
              <a:rPr lang="en-US" sz="3600" b="1">
                <a:solidFill>
                  <a:srgbClr val="FFFFFF"/>
                </a:solidFill>
                <a:latin typeface="Frutiger 45 Light"/>
                <a:cs typeface="Frutiger 45 Light"/>
              </a:rPr>
              <a:t>Evans Nyanney</a:t>
            </a:r>
          </a:p>
          <a:p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2592935" y="5287452"/>
            <a:ext cx="6784665" cy="683264"/>
          </a:xfrm>
          <a:prstGeom prst="rect">
            <a:avLst/>
          </a:prstGeom>
          <a:noFill/>
        </p:spPr>
        <p:txBody>
          <a:bodyPr wrap="square" lIns="128016" tIns="64008" rIns="128016" bIns="64008" rtlCol="0">
            <a:spAutoFit/>
          </a:bodyPr>
          <a:lstStyle/>
          <a:p>
            <a:r>
              <a:rPr lang="en-US" sz="3600">
                <a:solidFill>
                  <a:srgbClr val="FFFFFF"/>
                </a:solidFill>
                <a:latin typeface="Frutiger 45 Light"/>
                <a:cs typeface="Frutiger 45 Light"/>
              </a:rPr>
              <a:t>Faculty Advisor: Geng Zhaohui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1100B3-AE7D-D561-3E30-670863032D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628" y="7044266"/>
            <a:ext cx="8582985" cy="137961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F65BC43-98FE-1BA6-DFC0-37A718C93D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618" y="13365625"/>
            <a:ext cx="8569027" cy="125073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C1E2835-A978-5B3E-F1A1-F1A0D7BF94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262" y="20469594"/>
            <a:ext cx="8599352" cy="135285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923C4D1-67BF-6FD2-179A-F0E0B6704599}"/>
              </a:ext>
            </a:extLst>
          </p:cNvPr>
          <p:cNvSpPr txBox="1"/>
          <p:nvPr/>
        </p:nvSpPr>
        <p:spPr>
          <a:xfrm>
            <a:off x="964650" y="8152656"/>
            <a:ext cx="8532963" cy="535531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457200" tIns="457200" rIns="457200" bIns="457200" rtlCol="0" anchor="t">
            <a:spAutoFit/>
          </a:bodyPr>
          <a:lstStyle/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US" sz="3600" b="1">
                <a:solidFill>
                  <a:schemeClr val="bg2">
                    <a:lumMod val="10000"/>
                  </a:schemeClr>
                </a:solidFill>
                <a:latin typeface="EB Garamond "/>
              </a:rPr>
              <a:t>Investigate </a:t>
            </a:r>
            <a:r>
              <a:rPr lang="en-US" sz="3600">
                <a:solidFill>
                  <a:schemeClr val="bg2">
                    <a:lumMod val="10000"/>
                  </a:schemeClr>
                </a:solidFill>
                <a:latin typeface="EB Garamond "/>
              </a:rPr>
              <a:t>: Variational patterns in 3D point cloud data related to geometric design and additive manufacturing processes.</a:t>
            </a:r>
            <a:endParaRPr lang="en-US" sz="3600">
              <a:solidFill>
                <a:schemeClr val="bg2">
                  <a:lumMod val="10000"/>
                </a:schemeClr>
              </a:solidFill>
              <a:latin typeface="EB Garamond "/>
              <a:ea typeface="Calibri"/>
              <a:cs typeface="Calibri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US" sz="3600" b="1">
                <a:solidFill>
                  <a:schemeClr val="bg2">
                    <a:lumMod val="10000"/>
                  </a:schemeClr>
                </a:solidFill>
                <a:latin typeface="EB Garamond "/>
              </a:rPr>
              <a:t>Characterize</a:t>
            </a:r>
            <a:r>
              <a:rPr lang="en-US" sz="3600">
                <a:solidFill>
                  <a:schemeClr val="bg2">
                    <a:lumMod val="10000"/>
                  </a:schemeClr>
                </a:solidFill>
                <a:latin typeface="EB Garamond "/>
              </a:rPr>
              <a:t>: Key (local) geometric features influencing point cloud accuracy and precision in 3D printed objects.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D10847-EDBF-7BAB-A215-F093450E499E}"/>
              </a:ext>
            </a:extLst>
          </p:cNvPr>
          <p:cNvSpPr txBox="1"/>
          <p:nvPr/>
        </p:nvSpPr>
        <p:spPr>
          <a:xfrm>
            <a:off x="946618" y="14513283"/>
            <a:ext cx="8550995" cy="6063224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457200" tIns="457200" rIns="457200" bIns="457200" rtlCol="0">
            <a:spAutoFit/>
          </a:bodyPr>
          <a:lstStyle/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US" sz="3600" b="1">
                <a:solidFill>
                  <a:schemeClr val="bg2">
                    <a:lumMod val="10000"/>
                  </a:schemeClr>
                </a:solidFill>
                <a:latin typeface="EB Garamond "/>
              </a:rPr>
              <a:t>Link process and design</a:t>
            </a:r>
            <a:r>
              <a:rPr lang="en-US" sz="3600">
                <a:solidFill>
                  <a:schemeClr val="bg2">
                    <a:lumMod val="10000"/>
                  </a:schemeClr>
                </a:solidFill>
                <a:latin typeface="EB Garamond "/>
              </a:rPr>
              <a:t>: Reveal the relationship between geometric design and the accuracy and precision of the corresponding additive manufactured parts.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US" sz="3600" b="1">
                <a:latin typeface="EB Garamond "/>
              </a:rPr>
              <a:t>Local PGA pipeline</a:t>
            </a:r>
            <a:r>
              <a:rPr lang="en-US" sz="3600">
                <a:latin typeface="EB Garamond "/>
              </a:rPr>
              <a:t>: Develop an unsupervised method to model the local variance and capture the geometric variational patterns.</a:t>
            </a:r>
            <a:endParaRPr lang="en-US" sz="3600">
              <a:solidFill>
                <a:schemeClr val="bg2">
                  <a:lumMod val="10000"/>
                </a:schemeClr>
              </a:solidFill>
              <a:latin typeface="EB Garamond 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FD0FE2-F07D-4178-13BA-2B1108CF6A72}"/>
              </a:ext>
            </a:extLst>
          </p:cNvPr>
          <p:cNvSpPr txBox="1"/>
          <p:nvPr/>
        </p:nvSpPr>
        <p:spPr>
          <a:xfrm>
            <a:off x="914629" y="21592321"/>
            <a:ext cx="8582984" cy="9787295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457200" tIns="457200" rIns="457200" bIns="457200" rtlCol="0">
            <a:spAutoFit/>
          </a:bodyPr>
          <a:lstStyle/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US" sz="3600" b="1">
                <a:latin typeface="EB Garamond "/>
              </a:rPr>
              <a:t>Data Acquisition &amp; Normalization</a:t>
            </a:r>
            <a:r>
              <a:rPr lang="en-US" sz="3600">
                <a:latin typeface="EB Garamond "/>
              </a:rPr>
              <a:t>: Collect 3D scans; standardize or min–max scale coordinates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US" sz="3600" b="1">
                <a:latin typeface="EB Garamond "/>
              </a:rPr>
              <a:t>Spectral Clustering</a:t>
            </a:r>
            <a:r>
              <a:rPr lang="en-US" sz="3600">
                <a:latin typeface="EB Garamond "/>
              </a:rPr>
              <a:t>: Build an affinity matrix, compute the Laplacian, then apply eigen-decomposition and k-means.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US" sz="3600" b="1">
                <a:latin typeface="EB Garamond "/>
              </a:rPr>
              <a:t>Label Alignment</a:t>
            </a:r>
            <a:r>
              <a:rPr lang="en-US" sz="3600">
                <a:latin typeface="EB Garamond "/>
              </a:rPr>
              <a:t>: Use the Hungarian algorithm to match cluster labels across scans.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US" sz="3600" b="1">
                <a:latin typeface="EB Garamond "/>
              </a:rPr>
              <a:t>Local PGA</a:t>
            </a:r>
            <a:r>
              <a:rPr lang="en-US" sz="3600">
                <a:latin typeface="EB Garamond "/>
              </a:rPr>
              <a:t>: Project clusters onto a tangent space; run PCA to extract principal geodesics and map them back.</a:t>
            </a:r>
            <a:endParaRPr lang="en-US" sz="3600" b="1">
              <a:latin typeface="EB Garamond 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US" sz="3600" b="1">
                <a:latin typeface="EB Garamond "/>
              </a:rPr>
              <a:t>Variance Validation</a:t>
            </a:r>
            <a:r>
              <a:rPr lang="en-US" sz="3600">
                <a:latin typeface="EB Garamond "/>
              </a:rPr>
              <a:t>: Apply Kruskal–Wallis for variance checks; use ARI/NMI to assess clustering stability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37989CB-C15D-6824-118A-363FF2D60501}"/>
              </a:ext>
            </a:extLst>
          </p:cNvPr>
          <p:cNvSpPr txBox="1"/>
          <p:nvPr/>
        </p:nvSpPr>
        <p:spPr>
          <a:xfrm>
            <a:off x="36219808" y="8152656"/>
            <a:ext cx="12231720" cy="9787295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457200" tIns="457200" rIns="457200" bIns="457200" rtlCol="0">
            <a:spAutoFit/>
          </a:bodyPr>
          <a:lstStyle/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US" sz="3600">
                <a:latin typeface="EB Garamond "/>
              </a:rPr>
              <a:t>We evaluated scans of two 3D printed objects—a half-ball and a free-form structure—made with a LulzBot TAZ 3D printer using 2.85” polymer filament.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US" sz="3600">
              <a:solidFill>
                <a:schemeClr val="bg2">
                  <a:lumMod val="10000"/>
                </a:schemeClr>
              </a:solidFill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US" sz="3600">
              <a:solidFill>
                <a:schemeClr val="bg2">
                  <a:lumMod val="10000"/>
                </a:schemeClr>
              </a:solidFill>
            </a:endParaRPr>
          </a:p>
          <a:p>
            <a:endParaRPr lang="en-US" sz="3600">
              <a:solidFill>
                <a:schemeClr val="bg2">
                  <a:lumMod val="10000"/>
                </a:schemeClr>
              </a:solidFill>
            </a:endParaRPr>
          </a:p>
          <a:p>
            <a:endParaRPr lang="en-US" sz="3600">
              <a:solidFill>
                <a:schemeClr val="bg2">
                  <a:lumMod val="10000"/>
                </a:schemeClr>
              </a:solidFill>
            </a:endParaRPr>
          </a:p>
          <a:p>
            <a:endParaRPr lang="en-US" sz="3600">
              <a:solidFill>
                <a:schemeClr val="bg2">
                  <a:lumMod val="10000"/>
                </a:schemeClr>
              </a:solidFill>
            </a:endParaRPr>
          </a:p>
          <a:p>
            <a:endParaRPr lang="en-US" sz="360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US" sz="3600">
                <a:solidFill>
                  <a:schemeClr val="bg2">
                    <a:lumMod val="10000"/>
                  </a:schemeClr>
                </a:solidFill>
              </a:rPr>
              <a:t>       </a:t>
            </a:r>
            <a:r>
              <a:rPr lang="en-US" sz="3600">
                <a:solidFill>
                  <a:schemeClr val="bg2">
                    <a:lumMod val="10000"/>
                  </a:schemeClr>
                </a:solidFill>
                <a:latin typeface="EB Garamond "/>
              </a:rPr>
              <a:t>Half-Ball</a:t>
            </a:r>
            <a:r>
              <a:rPr lang="en-US" sz="3600">
                <a:solidFill>
                  <a:schemeClr val="bg2">
                    <a:lumMod val="10000"/>
                  </a:schemeClr>
                </a:solidFill>
              </a:rPr>
              <a:t>                                                 </a:t>
            </a:r>
            <a:r>
              <a:rPr lang="en-US" sz="3600">
                <a:solidFill>
                  <a:schemeClr val="bg2">
                    <a:lumMod val="10000"/>
                  </a:schemeClr>
                </a:solidFill>
                <a:latin typeface="EB Garamond "/>
              </a:rPr>
              <a:t>Freeform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US" sz="360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US" sz="3600">
                <a:solidFill>
                  <a:schemeClr val="bg2">
                    <a:lumMod val="10000"/>
                  </a:schemeClr>
                </a:solidFill>
                <a:latin typeface="EB Garamond "/>
              </a:rPr>
              <a:t>Figure 5: The CAD models and physical objects considered in our study.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US" sz="3600">
              <a:solidFill>
                <a:schemeClr val="bg2">
                  <a:lumMod val="10000"/>
                </a:schemeClr>
              </a:solidFill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US" sz="3600">
              <a:solidFill>
                <a:schemeClr val="bg2">
                  <a:lumMod val="10000"/>
                </a:schemeClr>
              </a:solidFill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US" sz="360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1158FE54-A4CD-B1C5-6FA7-6F134246A7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15156" y="7044267"/>
            <a:ext cx="12286394" cy="1293171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06CAC293-5665-1D6D-6752-D3A84E4C58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15156" y="15908497"/>
            <a:ext cx="12286394" cy="1403696"/>
          </a:xfrm>
          <a:prstGeom prst="rect">
            <a:avLst/>
          </a:prstGeom>
        </p:spPr>
      </p:pic>
      <p:sp>
        <p:nvSpPr>
          <p:cNvPr id="114" name="TextBox 113">
            <a:extLst>
              <a:ext uri="{FF2B5EF4-FFF2-40B4-BE49-F238E27FC236}">
                <a16:creationId xmlns:a16="http://schemas.microsoft.com/office/drawing/2014/main" id="{F47E8370-52C1-7441-CB30-37C0B101675C}"/>
              </a:ext>
            </a:extLst>
          </p:cNvPr>
          <p:cNvSpPr txBox="1"/>
          <p:nvPr/>
        </p:nvSpPr>
        <p:spPr>
          <a:xfrm>
            <a:off x="36219808" y="17062452"/>
            <a:ext cx="12211174" cy="9787295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457200" tIns="457200" rIns="457200" bIns="457200" rtlCol="0">
            <a:spAutoFit/>
          </a:bodyPr>
          <a:lstStyle/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EB Garamond "/>
              </a:rPr>
              <a:t>Manufacturing signatures: 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EB Garamond "/>
              </a:rPr>
              <a:t>The PGA pipeline segments 3D point clouds into clusters that highlight specific process variations.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US" sz="3600" b="1" dirty="0">
                <a:latin typeface="EB Garamond "/>
              </a:rPr>
              <a:t>Geometry-process mapping: </a:t>
            </a:r>
            <a:r>
              <a:rPr lang="en-US" sz="3600" dirty="0">
                <a:latin typeface="EB Garamond "/>
              </a:rPr>
              <a:t>Grouping geometric features links raw structure to manufacturing variations for targeted quality improvements..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US" sz="3600" dirty="0">
              <a:solidFill>
                <a:schemeClr val="bg2">
                  <a:lumMod val="10000"/>
                </a:schemeClr>
              </a:solidFill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US" sz="36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US" sz="36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US" sz="3600" dirty="0">
              <a:solidFill>
                <a:schemeClr val="bg2">
                  <a:lumMod val="10000"/>
                </a:schemeClr>
              </a:solidFill>
              <a:latin typeface="EB Garamond "/>
            </a:endParaRPr>
          </a:p>
          <a:p>
            <a:endParaRPr lang="en-US" sz="3600" dirty="0">
              <a:solidFill>
                <a:schemeClr val="bg2">
                  <a:lumMod val="10000"/>
                </a:schemeClr>
              </a:solidFill>
              <a:latin typeface="EB Garamond "/>
            </a:endParaRPr>
          </a:p>
          <a:p>
            <a:endParaRPr lang="en-US" sz="3600" dirty="0">
              <a:solidFill>
                <a:schemeClr val="bg2">
                  <a:lumMod val="10000"/>
                </a:schemeClr>
              </a:solidFill>
              <a:latin typeface="EB Garamond "/>
            </a:endParaRPr>
          </a:p>
          <a:p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EB Garamond "/>
              </a:rPr>
              <a:t>Figure 6: Visualization of the pointwise deviations with different layer thick-ness 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US" sz="3600" dirty="0">
              <a:solidFill>
                <a:schemeClr val="bg2">
                  <a:lumMod val="10000"/>
                </a:schemeClr>
              </a:solidFill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US" sz="3600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118" name="Picture 117">
            <a:extLst>
              <a:ext uri="{FF2B5EF4-FFF2-40B4-BE49-F238E27FC236}">
                <a16:creationId xmlns:a16="http://schemas.microsoft.com/office/drawing/2014/main" id="{2D104F3B-7B7C-2321-EBDC-0BC1CE7DA52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219807" y="25297871"/>
            <a:ext cx="12211174" cy="1403696"/>
          </a:xfrm>
          <a:prstGeom prst="rect">
            <a:avLst/>
          </a:prstGeom>
        </p:spPr>
      </p:pic>
      <p:sp>
        <p:nvSpPr>
          <p:cNvPr id="119" name="TextBox 118">
            <a:extLst>
              <a:ext uri="{FF2B5EF4-FFF2-40B4-BE49-F238E27FC236}">
                <a16:creationId xmlns:a16="http://schemas.microsoft.com/office/drawing/2014/main" id="{2DE9C2ED-2D13-403B-B24A-82DA9DC55B3F}"/>
              </a:ext>
            </a:extLst>
          </p:cNvPr>
          <p:cNvSpPr txBox="1"/>
          <p:nvPr/>
        </p:nvSpPr>
        <p:spPr>
          <a:xfrm>
            <a:off x="36219806" y="26530730"/>
            <a:ext cx="12211174" cy="4801314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457200" tIns="457200" rIns="457200" bIns="457200" rtlCol="0">
            <a:spAutoFit/>
          </a:bodyPr>
          <a:lstStyle/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US" sz="3600" b="1">
                <a:solidFill>
                  <a:schemeClr val="bg2">
                    <a:lumMod val="10000"/>
                  </a:schemeClr>
                </a:solidFill>
                <a:latin typeface="EB Garamond "/>
              </a:rPr>
              <a:t>Robust variance capture: </a:t>
            </a:r>
            <a:r>
              <a:rPr lang="en-US" sz="3600">
                <a:solidFill>
                  <a:schemeClr val="bg2">
                    <a:lumMod val="10000"/>
                  </a:schemeClr>
                </a:solidFill>
                <a:latin typeface="EB Garamond "/>
              </a:rPr>
              <a:t>The Local PGA pipeline effectively segments point clouds, revealing localized geometric variability validated by statistical tests and consistent clustering.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US" sz="3600" b="1">
                <a:solidFill>
                  <a:schemeClr val="bg2">
                    <a:lumMod val="10000"/>
                  </a:schemeClr>
                </a:solidFill>
                <a:latin typeface="EB Garamond "/>
              </a:rPr>
              <a:t>Future integration: </a:t>
            </a:r>
            <a:r>
              <a:rPr lang="en-US" sz="3600">
                <a:solidFill>
                  <a:schemeClr val="bg2">
                    <a:lumMod val="10000"/>
                  </a:schemeClr>
                </a:solidFill>
                <a:latin typeface="EB Garamond "/>
              </a:rPr>
              <a:t>Future work will link these variations to manufacturing quality and integrate defect detection for enhanced process control.</a:t>
            </a:r>
          </a:p>
        </p:txBody>
      </p:sp>
      <p:pic>
        <p:nvPicPr>
          <p:cNvPr id="123" name="Picture 122">
            <a:extLst>
              <a:ext uri="{FF2B5EF4-FFF2-40B4-BE49-F238E27FC236}">
                <a16:creationId xmlns:a16="http://schemas.microsoft.com/office/drawing/2014/main" id="{AD29FA30-4E72-BD3C-FE81-E272B4AB7F4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36735" y="7044267"/>
            <a:ext cx="25273269" cy="13796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171ED5-F2AC-ED66-B41D-4C32E4993B7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36733" y="16030171"/>
            <a:ext cx="25273271" cy="11425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969D73-A4D4-DC00-BDD0-B71BAAEEB29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28685" y="25329321"/>
            <a:ext cx="25281319" cy="1154266"/>
          </a:xfrm>
          <a:prstGeom prst="rect">
            <a:avLst/>
          </a:prstGeom>
        </p:spPr>
      </p:pic>
      <p:sp>
        <p:nvSpPr>
          <p:cNvPr id="15" name="Rectangle 7">
            <a:extLst>
              <a:ext uri="{FF2B5EF4-FFF2-40B4-BE49-F238E27FC236}">
                <a16:creationId xmlns:a16="http://schemas.microsoft.com/office/drawing/2014/main" id="{67F312B2-63A2-6C43-7D78-5B54BC5B2D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9377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Local PGA pipeline: Develop an unsupervised method to model the local variance and capture the geometric variational patterns.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D743201-1F4E-2B32-2C10-B368E5C604CE}"/>
              </a:ext>
            </a:extLst>
          </p:cNvPr>
          <p:cNvSpPr/>
          <p:nvPr/>
        </p:nvSpPr>
        <p:spPr>
          <a:xfrm>
            <a:off x="10236734" y="8152656"/>
            <a:ext cx="10921460" cy="79116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r>
              <a:rPr lang="en-US" sz="3600">
                <a:latin typeface="EB Garamond "/>
              </a:rPr>
              <a:t>Figure 1: Average Variance for each cluster (Half-Ball).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0F55140-60CE-14A9-3D02-08E84470F91A}"/>
              </a:ext>
            </a:extLst>
          </p:cNvPr>
          <p:cNvSpPr/>
          <p:nvPr/>
        </p:nvSpPr>
        <p:spPr>
          <a:xfrm>
            <a:off x="10228685" y="17115327"/>
            <a:ext cx="10929510" cy="821399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/>
          </a:p>
          <a:p>
            <a:pPr algn="ctr"/>
            <a:endParaRPr lang="en-US" sz="3600"/>
          </a:p>
          <a:p>
            <a:pPr algn="ctr"/>
            <a:endParaRPr lang="en-US" sz="3600"/>
          </a:p>
          <a:p>
            <a:pPr algn="ctr"/>
            <a:endParaRPr lang="en-US" sz="3600"/>
          </a:p>
          <a:p>
            <a:pPr algn="ctr"/>
            <a:endParaRPr lang="en-US" sz="3600"/>
          </a:p>
          <a:p>
            <a:pPr algn="ctr"/>
            <a:endParaRPr lang="en-US" sz="3600"/>
          </a:p>
          <a:p>
            <a:pPr algn="ctr"/>
            <a:endParaRPr lang="en-US" sz="3600"/>
          </a:p>
          <a:p>
            <a:pPr algn="ctr"/>
            <a:endParaRPr lang="en-US" sz="3600"/>
          </a:p>
          <a:p>
            <a:pPr algn="ctr"/>
            <a:endParaRPr lang="en-US" sz="3600"/>
          </a:p>
          <a:p>
            <a:pPr algn="ctr"/>
            <a:endParaRPr lang="en-US" sz="3600"/>
          </a:p>
          <a:p>
            <a:pPr algn="ctr"/>
            <a:endParaRPr lang="en-US" sz="3600"/>
          </a:p>
          <a:p>
            <a:pPr algn="ctr"/>
            <a:endParaRPr lang="en-US" sz="3600"/>
          </a:p>
          <a:p>
            <a:pPr algn="ctr"/>
            <a:endParaRPr lang="en-US" sz="3600"/>
          </a:p>
          <a:p>
            <a:pPr algn="ctr"/>
            <a:endParaRPr lang="en-US" sz="3600"/>
          </a:p>
          <a:p>
            <a:pPr algn="ctr"/>
            <a:r>
              <a:rPr lang="en-US" sz="3600">
                <a:latin typeface="EB Garamond "/>
              </a:rPr>
              <a:t>Figure 2: Average Variance for each cluster (Freeform).</a:t>
            </a:r>
          </a:p>
        </p:txBody>
      </p:sp>
      <p:pic>
        <p:nvPicPr>
          <p:cNvPr id="42" name="Picture 41" descr="A collage of graphs">
            <a:extLst>
              <a:ext uri="{FF2B5EF4-FFF2-40B4-BE49-F238E27FC236}">
                <a16:creationId xmlns:a16="http://schemas.microsoft.com/office/drawing/2014/main" id="{9FE4EFB3-3FB2-042D-E0C6-A6369C5BFD5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21282" y="8213994"/>
            <a:ext cx="10621452" cy="6982463"/>
          </a:xfrm>
          <a:prstGeom prst="rect">
            <a:avLst/>
          </a:prstGeom>
        </p:spPr>
      </p:pic>
      <p:pic>
        <p:nvPicPr>
          <p:cNvPr id="45" name="Picture 44" descr="A collage of graphs">
            <a:extLst>
              <a:ext uri="{FF2B5EF4-FFF2-40B4-BE49-F238E27FC236}">
                <a16:creationId xmlns:a16="http://schemas.microsoft.com/office/drawing/2014/main" id="{2DD37A7C-C16F-C604-64BF-82B83A12B61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64967" y="17172693"/>
            <a:ext cx="10577766" cy="7457846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346DCAEF-642E-7A23-9B06-71DD6DFCC3DB}"/>
              </a:ext>
            </a:extLst>
          </p:cNvPr>
          <p:cNvSpPr/>
          <p:nvPr/>
        </p:nvSpPr>
        <p:spPr>
          <a:xfrm>
            <a:off x="21537307" y="8152656"/>
            <a:ext cx="13972697" cy="78775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r>
              <a:rPr lang="en-US" sz="3600">
                <a:latin typeface="EB Garamond "/>
              </a:rPr>
              <a:t>Figure 3: Variance Distribution Across Clusters for Half-Ball.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C9382FE6-6438-BCD7-8803-FA398F746A8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779240" y="8213994"/>
            <a:ext cx="13403390" cy="6982465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442B90AA-52E5-B646-17E7-60CAE2BD4060}"/>
              </a:ext>
            </a:extLst>
          </p:cNvPr>
          <p:cNvSpPr/>
          <p:nvPr/>
        </p:nvSpPr>
        <p:spPr>
          <a:xfrm>
            <a:off x="21619933" y="17115324"/>
            <a:ext cx="13890071" cy="82481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r>
              <a:rPr lang="en-US" sz="3600">
                <a:latin typeface="EB Garamond "/>
              </a:rPr>
              <a:t>Figure 4: Variance Distribution Across Clusters for Freeform.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82EF7CE7-D6E5-6DF2-9721-A2727CD16AE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779240" y="17312193"/>
            <a:ext cx="13403390" cy="7318346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C16AB05F-A1DB-A0FB-44A5-9B4AA6CC301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6642810" y="20831321"/>
            <a:ext cx="11297876" cy="2876951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1177228A-4D05-A7E0-6A87-59889226F26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642810" y="10364279"/>
            <a:ext cx="10644733" cy="3143689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6766A6F4-BA33-55FC-A0F6-FFDDEE71D4AC}"/>
              </a:ext>
            </a:extLst>
          </p:cNvPr>
          <p:cNvSpPr/>
          <p:nvPr/>
        </p:nvSpPr>
        <p:spPr>
          <a:xfrm>
            <a:off x="10236734" y="26380344"/>
            <a:ext cx="10921460" cy="49517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>
                <a:latin typeface="EB Garamond "/>
              </a:rPr>
              <a:t>Table 1: Variance Analysis for Half-Ball and Freeform Measurements</a:t>
            </a:r>
          </a:p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1961C80F-FC85-AA72-0945-9A9CC239310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364966" y="28101286"/>
            <a:ext cx="10577767" cy="3230758"/>
          </a:xfrm>
          <a:prstGeom prst="rect">
            <a:avLst/>
          </a:prstGeom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4E4B5F37-939E-CA6D-8F31-0A05E060E1A7}"/>
              </a:ext>
            </a:extLst>
          </p:cNvPr>
          <p:cNvSpPr/>
          <p:nvPr/>
        </p:nvSpPr>
        <p:spPr>
          <a:xfrm>
            <a:off x="21652535" y="26380342"/>
            <a:ext cx="13857469" cy="495170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>
                <a:latin typeface="EB Garamond "/>
              </a:rPr>
              <a:t>         Table 2: Clustering Consistency Metrics Comparison (Overall, not                 axis-specific                       </a:t>
            </a:r>
          </a:p>
          <a:p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  <a:p>
            <a:pPr algn="ctr"/>
            <a:endParaRPr lang="en-US" sz="3600">
              <a:latin typeface="EB Garamond 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144152C3-8F69-5F41-24A0-6ABE3B1025F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1779240" y="28101286"/>
            <a:ext cx="13403390" cy="32307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60253DC91564409FA87F5EE0645ED0" ma:contentTypeVersion="16" ma:contentTypeDescription="Create a new document." ma:contentTypeScope="" ma:versionID="ac1978f5402d080060c4dfb1aa30c855">
  <xsd:schema xmlns:xsd="http://www.w3.org/2001/XMLSchema" xmlns:xs="http://www.w3.org/2001/XMLSchema" xmlns:p="http://schemas.microsoft.com/office/2006/metadata/properties" xmlns:ns2="3933e6f0-288c-4cef-b222-296ff2e83864" xmlns:ns3="f2651a81-ec61-4ec4-971c-e12a4a6b71b7" targetNamespace="http://schemas.microsoft.com/office/2006/metadata/properties" ma:root="true" ma:fieldsID="d327130dcbe47e1930dbb22a05a65f96" ns2:_="" ns3:_="">
    <xsd:import namespace="3933e6f0-288c-4cef-b222-296ff2e83864"/>
    <xsd:import namespace="f2651a81-ec61-4ec4-971c-e12a4a6b71b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33e6f0-288c-4cef-b222-296ff2e838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3441a5e-8925-41ae-9654-e36904a9a6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651a81-ec61-4ec4-971c-e12a4a6b71b7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26d9203e-d289-494a-b0aa-fe06dc89626f}" ma:internalName="TaxCatchAll" ma:showField="CatchAllData" ma:web="f2651a81-ec61-4ec4-971c-e12a4a6b71b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f2651a81-ec61-4ec4-971c-e12a4a6b71b7">
      <UserInfo>
        <DisplayName>Musick, Chloe</DisplayName>
        <AccountId>203</AccountId>
        <AccountType/>
      </UserInfo>
    </SharedWithUsers>
    <lcf76f155ced4ddcb4097134ff3c332f xmlns="3933e6f0-288c-4cef-b222-296ff2e83864">
      <Terms xmlns="http://schemas.microsoft.com/office/infopath/2007/PartnerControls"/>
    </lcf76f155ced4ddcb4097134ff3c332f>
    <TaxCatchAll xmlns="f2651a81-ec61-4ec4-971c-e12a4a6b71b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AAD9C45-1761-4D3E-B67D-737839D49EDD}">
  <ds:schemaRefs>
    <ds:schemaRef ds:uri="3933e6f0-288c-4cef-b222-296ff2e83864"/>
    <ds:schemaRef ds:uri="f2651a81-ec61-4ec4-971c-e12a4a6b71b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69B5340-9A06-4EC2-944A-198DE9ED9F61}">
  <ds:schemaRefs>
    <ds:schemaRef ds:uri="http://purl.org/dc/dcmitype/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3933e6f0-288c-4cef-b222-296ff2e83864"/>
    <ds:schemaRef ds:uri="http://www.w3.org/XML/1998/namespace"/>
    <ds:schemaRef ds:uri="http://purl.org/dc/elements/1.1/"/>
    <ds:schemaRef ds:uri="http://schemas.openxmlformats.org/package/2006/metadata/core-properties"/>
    <ds:schemaRef ds:uri="f2651a81-ec61-4ec4-971c-e12a4a6b71b7"/>
  </ds:schemaRefs>
</ds:datastoreItem>
</file>

<file path=customXml/itemProps3.xml><?xml version="1.0" encoding="utf-8"?>
<ds:datastoreItem xmlns:ds="http://schemas.openxmlformats.org/officeDocument/2006/customXml" ds:itemID="{611F72C9-0F78-4E69-8993-B0D2ACE0C85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422</Words>
  <Application>Microsoft Office PowerPoint</Application>
  <PresentationFormat>Custom</PresentationFormat>
  <Paragraphs>105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Aptos</vt:lpstr>
      <vt:lpstr>Aptos Display</vt:lpstr>
      <vt:lpstr>Arial</vt:lpstr>
      <vt:lpstr>Barlow</vt:lpstr>
      <vt:lpstr>Barlow SemiBold</vt:lpstr>
      <vt:lpstr>Courier New</vt:lpstr>
      <vt:lpstr>EB Garamond </vt:lpstr>
      <vt:lpstr>Frutiger 45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36” x 54”</dc:title>
  <dc:creator>Midori Sakurai</dc:creator>
  <cp:lastModifiedBy>Nyanney, Evans</cp:lastModifiedBy>
  <cp:revision>1</cp:revision>
  <cp:lastPrinted>2020-03-05T19:58:11Z</cp:lastPrinted>
  <dcterms:created xsi:type="dcterms:W3CDTF">2013-06-25T03:30:28Z</dcterms:created>
  <dcterms:modified xsi:type="dcterms:W3CDTF">2026-10-16T11:01:10Z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0x0101005760253DC91564409FA87F5EE0645ED0</vt:lpwstr>
  </property>
  <property fmtid="{D5CDD505-2E9C-101B-9397-08002B2CF9AE}" pid="3" name="Order">
    <vt:r8>1616400</vt:r8>
  </property>
  <property fmtid="{D5CDD505-2E9C-101B-9397-08002B2CF9AE}" pid="4" name="_ExtendedDescription">
    <vt:lpwstr/>
  </property>
  <property fmtid="{D5CDD505-2E9C-101B-9397-08002B2CF9AE}" pid="5" name="ComplianceAssetId">
    <vt:lpwstr/>
  </property>
</Properties>
</file>